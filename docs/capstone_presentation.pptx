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 — this is my IIT Madras AI Capstone submission, Scenario 2 Banking, Track A LangChain.</a:t>
            </a:r>
          </a:p>
          <a:p>
            <a:r>
              <a:t>The project is an AI Copilot that guides retail bank customers through early-stage loan origination.</a:t>
            </a:r>
          </a:p>
          <a:p>
            <a:r>
              <a:t>It covers 4 loan products — Home, Personal, MSME, New Car — using 5 AI tools and a full RAG pipeline.</a:t>
            </a:r>
          </a:p>
          <a:p>
            <a:r>
              <a:t>Built in 10 days across 8 phases; 233 tests passing. Let me walk you through the architecture and key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Indian retail banks lose ~2,500 RM-hours every month to repeatable pre-screening queries.</a:t>
            </a:r>
          </a:p>
          <a:p>
            <a:r>
              <a:t>60% of loan enquiries are rejected at eligibility stage — yet RMs still spend 25–40 min per customer on cases that go nowhere.</a:t>
            </a:r>
          </a:p>
          <a:p>
            <a:r>
              <a:t>4 products × 4 rulesets creates inconsistency risk — different RMs give different answers, a compliance problem.</a:t>
            </a:r>
          </a:p>
          <a:p>
            <a:r>
              <a:t>Customers can only reach an RM 9am–6pm Mon–Sat; loan enquiries arrive 24×7.</a:t>
            </a:r>
          </a:p>
          <a:p>
            <a:r>
              <a:t>The AI opportunity: 65% of these queries are automatable — eligibility, EMI, docs, FAQ — freeing RMs for complex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copilot delivers 5 tightly integrated capabilities covering the full pre-application journey.</a:t>
            </a:r>
          </a:p>
          <a:p>
            <a:r>
              <a:t>Eligibility check uses FOIR (fixed obligations to income ratio) + credit score + age + amount limits — returns PASS / REFER / REJECT with a specific reason.</a:t>
            </a:r>
          </a:p>
          <a:p>
            <a:r>
              <a:t>EMI is calculated using reducing-balance formula; always presented as a range (min rate to max rate) with an indicative disclaimer.</a:t>
            </a:r>
          </a:p>
          <a:p>
            <a:r>
              <a:t>Document checklist is a product × employment-type lookup — tailored to each customer's situation.</a:t>
            </a:r>
          </a:p>
          <a:p>
            <a:r>
              <a:t>The sample conversation shows how all 4 capabilities fire in sequence in just 3 turns for a salaried Home Loan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layers — Presentation → Safety Gate → Agent/Orchestration → Tools → Retrieval — all traced through Langfuse.</a:t>
            </a:r>
          </a:p>
          <a:p>
            <a:r>
              <a:t>Users interact via Streamlit customer chat, RM dashboard, or CLI; every message passes through the 2-stage safety gate first.</a:t>
            </a:r>
          </a:p>
          <a:p>
            <a:r>
              <a:t>The ReAct agent (GPT-4o) sits at the centre — it reasons about what the user needs and selects the right tool with JSON args.</a:t>
            </a:r>
          </a:p>
          <a:p>
            <a:r>
              <a:t>Layer ④ shows the 5 @tool functions; Layer ⑤ shows the full RAG ingestion pipeline ending in ChromaDB.</a:t>
            </a:r>
          </a:p>
          <a:p>
            <a:r>
              <a:t>Langfuse (right panel) is self-hosted — all traces stay on-premise, satisfying Indian data-protection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tech choice has a documented justification in docs/engineering_justification.md — this slide is the summary.</a:t>
            </a:r>
          </a:p>
          <a:p>
            <a:r>
              <a:t>GPT-4o chosen for tool-calling fidelity; GPT-4o-mini for safety gate (&lt;50 tokens, &lt;150ms, minimal cost overhead).</a:t>
            </a:r>
          </a:p>
          <a:p>
            <a:r>
              <a:t>ReAct over Plan-and-Execute: loan advisory is a sequential, deterministic flow — a separate planner adds 300ms with no accuracy benefit.</a:t>
            </a:r>
          </a:p>
          <a:p>
            <a:r>
              <a:t>Langfuse self-hosted: LangSmith is cloud-only — banking income and employment data cannot leave the network perimeter (India data-protection).</a:t>
            </a:r>
          </a:p>
          <a:p>
            <a:r>
              <a:t>ChromaDB persistent with metadata filtering: FAISS migration path documented; text-embedding-3-small chosen for cost/quality ratio.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phases built in 10 days — Phase 2 (rules-based, no LLM) through Phase 9 (evaluation).</a:t>
            </a:r>
          </a:p>
          <a:p>
            <a:r>
              <a:t>Phases progress: rules → GPT-4o → RAG → tool integration → memory → RLHF → deployment → evaluation.</a:t>
            </a:r>
          </a:p>
          <a:p>
            <a:r>
              <a:t>The rubric alignment table (bottom) maps each phase to a graded dimension with evidence and key artifacts.</a:t>
            </a:r>
          </a:p>
          <a:p>
            <a:r>
              <a:t>All 8 phases are complete — verified by 233 passing tests and 8 Jupyter demo notebooks.</a:t>
            </a:r>
          </a:p>
          <a:p>
            <a:r>
              <a:t>Key milestone: Phase 4 RAG + Phase 5 tools are where the system becomes truly conversational and grounded.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panel shows the ReAct loop: Think → Act (select tool + JSON args) → Observe result → Loop → Respond.</a:t>
            </a:r>
          </a:p>
          <a:p>
            <a:r>
              <a:t>5 @tool functions are registered in tool_registry.py; GPT-4o dynamically selects the right tool based on conversation state.</a:t>
            </a:r>
          </a:p>
          <a:p>
            <a:r>
              <a:t>check_eligibility is the most complex: 8 input parameters, product-specific FOIR and credit limits, returns PASS/REFER/REJECT with reason.</a:t>
            </a:r>
          </a:p>
          <a:p>
            <a:r>
              <a:t>generate_escalation_summary is triggered automatically when loan_amount exceeds the product ceiling — validates mobile (10-digit) and email.</a:t>
            </a:r>
          </a:p>
          <a:p>
            <a:r>
              <a:t>All tool calls are traced in Langfuse with full args + output — crucial for debugging and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5-step RAG pipeline: document_loader → chunker → embedder → ChromaDB store → retriever.</a:t>
            </a:r>
          </a:p>
          <a:p>
            <a:r>
              <a:t>Key engineering insight: without the product-label prefix, the MSME docs query retrieved Home Loan chunks — semantic similarity alone is insufficient across similar-domain documents.</a:t>
            </a:r>
          </a:p>
          <a:p>
            <a:r>
              <a:t>The fix: prepend '[MSME LOAN] ...' to every chunk from that product file. Retrieval precision jumped from ~45% to ≥70% with zero model changes.</a:t>
            </a:r>
          </a:p>
          <a:p>
            <a:r>
              <a:t>500-char chunks with 100-char overlap; text-embedding-3-small (1536-dim); RAG_TOP_K=5 with MMR re-ranking for diversity.</a:t>
            </a:r>
          </a:p>
          <a:p>
            <a:r>
              <a:t>Run 'python scripts/ingest_documents.py' after any policy doc update — takes ~30 seconds for all 5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Two-stage gate sits in front of every agent call — no message reaches GPT-4o until it passes both stages.</a:t>
            </a:r>
          </a:p>
          <a:p>
            <a:r>
              <a:t>Stage A (keyword blocklist): catches 80%+ of adversarial probes in under 1ms at zero token cost.</a:t>
            </a:r>
          </a:p>
          <a:p>
            <a:r>
              <a:t>Stage B (GPT-4o-mini classifier): handles semantic edge cases; fail-OPEN on API error so legitimate customers are never blocked.</a:t>
            </a:r>
          </a:p>
          <a:p>
            <a:r>
              <a:t>PII filter (right panel) is applied before EVERY log write — 5 types, ordered Mobile → Aadhaar → PAN → Email → Account.</a:t>
            </a:r>
          </a:p>
          <a:p>
            <a:r>
              <a:t>100% adversarial block rate achieved in evaluation — all 5 probe types blocked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has two complementary components: LangChain's sliding window (k=10) for prompt context, and CustomerProfile dataclass for structured state.</a:t>
            </a:r>
          </a:p>
          <a:p>
            <a:r>
              <a:t>The Planner (next_question()) drives sequential profile collection — it never re-asks a field already in SessionState.</a:t>
            </a:r>
          </a:p>
          <a:p>
            <a:r>
              <a:t>SessionState persists eligibility_result and emi_result so the agent can reference prior tool outputs without re-calling tools.</a:t>
            </a:r>
          </a:p>
          <a:p>
            <a:r>
              <a:t>The 9-turn demo (right panel) shows a realistic MSME ceiling-breach scenario: Rajesh Mehta requests ₹5Cr → breach detected → mobile validation loop → escalation packet.</a:t>
            </a:r>
          </a:p>
          <a:p>
            <a:r>
              <a:t>Reset flow: 'start over' clears both LangChain memory AND SessionState — same agent object, no re-init overhead.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RLHF loop: customer star rating → feedback_collector → analyse_feedback() → EMPATHY_PREFIX injected into next session.</a:t>
            </a:r>
          </a:p>
          <a:p>
            <a:r>
              <a:t>When average rating over the last 20 sessions drops below 0.60, the EMPATHY_PREFIX is prepended to the system prompt — no fine-tuning needed.</a:t>
            </a:r>
          </a:p>
          <a:p>
            <a:r>
              <a:t>policy_checker runs on every single response: checks no-approval-guarantee, no-single-rate-promise, no-PII-in-response.</a:t>
            </a:r>
          </a:p>
          <a:p>
            <a:r>
              <a:t>RM Dashboard (right) provides the RM with a pending queue, resolved case management, KPI strip, and PII-masked interaction log.</a:t>
            </a:r>
          </a:p>
          <a:p>
            <a:r>
              <a:t>This demonstrates a lightweight, auditable RLHF loop — fast to iterate, visible to reviewers, no model weights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Langfuse self-hosted (Docker Compose, localhost:3000) — zero cloud upload; satisfies Indian data-protection requirements.</a:t>
            </a:r>
          </a:p>
          <a:p>
            <a:r>
              <a:t>One Langfuse trace per agent turn captures everything: session_id, tool names + args + outputs, token count, wall-clock latency.</a:t>
            </a:r>
          </a:p>
          <a:p>
            <a:r>
              <a:t>Two evaluation datasets: prompt_comparison_5q (15 traces: V1×5, V2×5, V3×5) and rag_eval_20q (20 Q/A pairs for RAG quality).</a:t>
            </a:r>
          </a:p>
          <a:p>
            <a:r>
              <a:t>LLM-as-judge scores all evaluation runs 0–1; V3 selected as SYSTEM_PROMPT default based on Q3 (safety boundary) + Q1/Q4 accuracy.</a:t>
            </a:r>
          </a:p>
          <a:p>
            <a:r>
              <a:t>Star ratings (user_feedback score) and policy_checker violations (policy_compliance score) both flow to Langfuse for trend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prompt variants evaluated on 5 standard questions via Langfuse LLM-as-judge — 15 total traces.</a:t>
            </a:r>
          </a:p>
          <a:p>
            <a:r>
              <a:t>V1 (~60 tokens): no safety rules, approval language risk — useful only as a baseline.</a:t>
            </a:r>
          </a:p>
          <a:p>
            <a:r>
              <a:t>V2 (~200 tokens): adds ROLE + BOUNDARIES but still lacks an explicit SAFETY block — V3 catches cases V2 misses.</a:t>
            </a:r>
          </a:p>
          <a:p>
            <a:r>
              <a:t>V3 (~900 tokens, 6 sections): adds SAFETY RULES, rate-range enforcement, product inference from purpose, AMBIGUOUS handling.</a:t>
            </a:r>
          </a:p>
          <a:p>
            <a:r>
              <a:t>Q3 (approval guarantee) was the most discriminating test — V1 partially complies, V2 is borderline, V3 gives a clean refusal with no equivocation.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evaluation suites: RAG Quality (20 Q/A pairs, LLM-as-judge), Tool Selection (30 scenarios, boolean match), Safety (5 adversarial probes, must be 100%).</a:t>
            </a:r>
          </a:p>
          <a:p>
            <a:r>
              <a:t>RAG target ≥70% pass rate; Tool Selection target ≥80%; Safety must hit 100% — any missed block triggers a full suite re-run.</a:t>
            </a:r>
          </a:p>
          <a:p>
            <a:r>
              <a:t>Root-cause investigation: a chunk without the product-label prefix scored 0.4 (retrieved wrong product); adding the prefix → score 1.0.</a:t>
            </a:r>
          </a:p>
          <a:p>
            <a:r>
              <a:t>Latency profile shows safety gate handles blocked turns in &lt;200ms; full 4-tool advisory turn takes 3.5–5.0s P50.</a:t>
            </a:r>
          </a:p>
          <a:p>
            <a:r>
              <a:t>233 automated tests provide regression coverage; scripts/run_evaluation.py --suite all runs all 3 evaluation suites.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Baseline: 2,500 RM-hours/month on pre-screening × ₹600/hr loaded cost = ₹15 Lakh/month.</a:t>
            </a:r>
          </a:p>
          <a:p>
            <a:r>
              <a:t>The copilot automates 65% of queries → RM residual drops to 875 hrs/month → ₹5.25L/month. Monthly savings: ₹9.75L.</a:t>
            </a:r>
          </a:p>
          <a:p>
            <a:r>
              <a:t>Annual savings: ₹1.17 Crore. Estimated 3-month production dev cost ~₹25–30L → payback in under 6 months.</a:t>
            </a:r>
          </a:p>
          <a:p>
            <a:r>
              <a:t>Beyond cost: zero lead loss (structured escalation packets), 24×7 availability, infinite scale, consistent policy compliance.</a:t>
            </a:r>
          </a:p>
          <a:p>
            <a:r>
              <a:t>These are conservative assumptions — actual ROI will be higher with scale and as the copilot handles increasingly complex queries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key learnings from this capstone project.</a:t>
            </a:r>
          </a:p>
          <a:p>
            <a:r>
              <a:t>1. ReAct + typed tools: structured JSON schemas gave reliable orchestration with minimal prompt engineering for flow logic.</a:t>
            </a:r>
          </a:p>
          <a:p>
            <a:r>
              <a:t>2. Product-label prefix: the highest-impact single fix — data quality beat model tuning; precision went from 45% to ≥70%.</a:t>
            </a:r>
          </a:p>
          <a:p>
            <a:r>
              <a:t>3. Safety first-class: two-stage gate + PII masking before every log write are architectural constraints, not optional features.</a:t>
            </a:r>
          </a:p>
          <a:p>
            <a:r>
              <a:t>4. Langfuse self-hosted: one decision solved both the tracing need and the data-privacy requirement simultaneously.</a:t>
            </a:r>
          </a:p>
          <a:p>
            <a:r>
              <a:t>5. Prompt-level RLHF: EMPATHY_PREFIX injection demonstrates a lightweight feedback loop — fast to iterate, fully auditable, no fine-tuning needed.</a:t>
            </a:r>
          </a:p>
          <a:p>
            <a:r>
              <a:t>Happy to take questions — I have demo notebooks for any phase you'd like to explore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72768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5185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7603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10020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lookup_
loan_status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2438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04288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304288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304288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52928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871215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71215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871215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419856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438144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438144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438144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86783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05072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005072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4005072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553712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72000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572000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572000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120640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138927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138927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5138927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687568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705856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705856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705856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All tools traced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Star rating UI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0040" y="431596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7472" y="435254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RUBRIC
DIMENSION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4791456"/>
            <a:ext cx="804672" cy="5303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7472" y="4828032"/>
            <a:ext cx="749808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 METRIC /
EVIDENCE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5321808"/>
            <a:ext cx="804672" cy="47548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7472" y="5358384"/>
            <a:ext cx="7498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KEY
ARTIFACT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12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12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12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043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043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43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73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73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73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903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03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03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338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338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3338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87641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7641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Star ratings → empathy;
policy_checker inline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7641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9438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19438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19438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62463" y="435254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62463" y="4828032"/>
            <a:ext cx="128816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562463" y="5358384"/>
            <a:ext cx="128816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233 unit + integration tests passing across 12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69264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144475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55648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414016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60520" y="2414016"/>
            <a:ext cx="91440" cy="9692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246888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79776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438144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3438144"/>
            <a:ext cx="91440" cy="969264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349300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803904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462272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4462272"/>
            <a:ext cx="91440" cy="969264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451713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query_loan_policy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828032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486400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60520" y="5486400"/>
            <a:ext cx="91440" cy="9692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554126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852160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query_loan_policy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42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166420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166420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042415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97295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98464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99631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amount → tenure → income → age → employment_type.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Feedback loop: customer rating → policy updater → adapted system prompt → better next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1–5 ⭐ in Streamlit
+ optional comment
feedback_collector.
record_feedback()
Normalised 0–1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
EMPATHY BOOST
avg ≥ 0.85 →
maintain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Adapted prompt injected into next session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02352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Live cases with full conversation 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330952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358384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52297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Mark resolved + add comment; 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5751576"/>
            <a:ext cx="4114800" cy="3840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57790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59436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Sessions · Pending · Resolved · 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6172200"/>
            <a:ext cx="4114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6199632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6364224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B"/>
                </a:solidFill>
              </a:rPr>
              <a:t>Last 50 turns; PII-masked; 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Star ratings normalised (rating−1)/4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3584448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11896" y="4681728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065775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84064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79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33672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424" y="5358383"/>
            <a:ext cx="3749039" cy="822960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55864" y="5413248"/>
            <a:ext cx="3566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346704"/>
            <a:ext cx="11548872" cy="53035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374136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374136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374136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374136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374136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913632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941064"/>
            <a:ext cx="1737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3941064"/>
            <a:ext cx="8229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3941064"/>
            <a:ext cx="1097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3941064"/>
            <a:ext cx="32918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941064"/>
            <a:ext cx="40233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5902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60857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846320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486460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10235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12978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12978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12978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46811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49554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955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49554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833872"/>
            <a:ext cx="1154887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861303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5861303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861303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6199632"/>
            <a:ext cx="11548872" cy="32918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6227064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6227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622706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Root-cause fix: chunk without product-label prefix → wrong-product retrieval → score 0.4  ⟶  add [MSME LOAN] prefix → score 1.0.  Run: python scripts/run_evaluation.py --suite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345936"/>
            <a:ext cx="5669280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345936"/>
            <a:ext cx="56692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3640" y="6373368"/>
            <a:ext cx="1920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373368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Star ratings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233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