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91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9634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426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the purple MCP strip notes that all 5 are simultaneously exposed via FastMCP for external clients.</a:t>
            </a:r>
          </a:p>
          <a:p>
            <a:r>
              <a:t>MCP (Model Context Protocol) makes the tools discoverable by Claude Desktop, Claude Code, and any external bank system — no code changes to the agent needed.</a:t>
            </a:r>
          </a:p>
          <a:p>
            <a:r>
              <a:t>Layer ⑤ shows the full RAG ingestion pipeline ending in ChromaDB. Langfuse (right panel) self-hosted — all traces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MCP (FastMCP): additive exposure layer — all 5 tools discoverable via Model Context Protocol without changing the LangChain agent path.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426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MCP strip (purple, below tools): all 5 tools are simultaneously exposed via FastMCP — Claude Desktop, Claude Code, and external bank systems can call them without Python imports.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RLHF loop: customer 👍/👎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Thumbs feedback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426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7276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85185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97603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10020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query_loan
_policy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2243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326380"/>
            <a:ext cx="7562088" cy="20116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581912" y="5344668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↑  All 5 tools exposed via MCP  (loan_mcp/server.py · FastMCP · stdio &amp; HTTP · USE_MCP=true)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21991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2402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2491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7432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7432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2783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2461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2461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3075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749039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49039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749039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23367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2519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2519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73659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47548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548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7548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951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2578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578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2578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74243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MCP Tool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7607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FastMCP  (mcp v1.27 · loan_mcp/server.py)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7607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All 5 tools exposed via Model Context Protocol — discoverable by Claude Desktop, Claude Code, and external bank systems without Python imports. MCP path is the default (USE_MCP=true); USE_MCP=false selects direct @tool imports. Adds schema validation at the protocol layer; &lt;1ms serialisation overhead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MCP exposure layer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Thumbs 👍/👎 feedback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Thumbs feedback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426 unit + integration tests passing across 13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14400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14356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37360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359152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60520" y="2359152"/>
            <a:ext cx="91440" cy="914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2404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06624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328416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60520" y="3328416"/>
            <a:ext cx="91440" cy="914400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15968" y="3374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675888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297680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60520" y="4297680"/>
            <a:ext cx="91440" cy="91440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15968" y="43434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645152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266944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0520" y="5266944"/>
            <a:ext cx="9144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15968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614416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6272784"/>
            <a:ext cx="7818120" cy="1828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24528" y="6271188"/>
            <a:ext cx="764425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 dirty="0">
                <a:solidFill>
                  <a:srgbClr val="FFFFFF"/>
                </a:solidFill>
              </a:rPr>
              <a:t>MCP Exposure Layer: all 5 tools discoverable via </a:t>
            </a:r>
            <a:r>
              <a:rPr sz="750" b="1" i="0" dirty="0" err="1">
                <a:solidFill>
                  <a:srgbClr val="FFFFFF"/>
                </a:solidFill>
              </a:rPr>
              <a:t>loan_mcp</a:t>
            </a:r>
            <a:r>
              <a:rPr sz="750" b="1" i="0" dirty="0">
                <a:solidFill>
                  <a:srgbClr val="FFFFFF"/>
                </a:solidFill>
              </a:rPr>
              <a:t>/</a:t>
            </a:r>
            <a:r>
              <a:rPr sz="750" b="1" i="0" dirty="0" err="1">
                <a:solidFill>
                  <a:srgbClr val="FFFFFF"/>
                </a:solidFill>
              </a:rPr>
              <a:t>server.py</a:t>
            </a:r>
            <a:r>
              <a:rPr sz="750" b="1" i="0" dirty="0">
                <a:solidFill>
                  <a:srgbClr val="FFFFFF"/>
                </a:solidFill>
              </a:rPr>
              <a:t> (</a:t>
            </a:r>
            <a:r>
              <a:rPr sz="750" b="1" i="0" dirty="0" err="1">
                <a:solidFill>
                  <a:srgbClr val="FFFFFF"/>
                </a:solidFill>
              </a:rPr>
              <a:t>FastMCP</a:t>
            </a:r>
            <a:r>
              <a:rPr sz="750" b="1" i="0" dirty="0">
                <a:solidFill>
                  <a:srgbClr val="FFFFFF"/>
                </a:solidFill>
              </a:rPr>
              <a:t> · </a:t>
            </a:r>
            <a:r>
              <a:rPr sz="750" b="1" i="0" dirty="0" err="1">
                <a:solidFill>
                  <a:srgbClr val="FFFFFF"/>
                </a:solidFill>
              </a:rPr>
              <a:t>stdio</a:t>
            </a:r>
            <a:r>
              <a:rPr sz="750" b="1" i="0" dirty="0">
                <a:solidFill>
                  <a:srgbClr val="FFFFFF"/>
                </a:solidFill>
              </a:rPr>
              <a:t> &amp; HTTP)  ·  USE_MCP=true selects MCP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161288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88151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8017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72199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name → amount → tenure → income → age → employment_type → credit_score.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Two-layer RLHF: within-session correction (immediate) + cross-session adaptive policy (LLM-generated)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★ in Streamlit
per AI response
+ text comment
feedback_collector.
record_feedback()
rating (1–5) + comment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 EMPATHY
avg ≥ 0.85 → maintain
update_adaptive_policy()
→ adaptive_policy.json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get_adapted_prompt() stacks: EMPATHY_PREFIX + adaptive_policy entries + base prompt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Thumbs feedback (👍=1.0, 👎=0.0)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Thumbs 👍/👎 feedback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426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7250</Words>
  <Application>Microsoft Macintosh PowerPoint</Application>
  <PresentationFormat>Custom</PresentationFormat>
  <Paragraphs>597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Manoj Bansal</cp:lastModifiedBy>
  <cp:revision>2</cp:revision>
  <dcterms:created xsi:type="dcterms:W3CDTF">2013-01-27T09:14:16Z</dcterms:created>
  <dcterms:modified xsi:type="dcterms:W3CDTF">2026-06-15T15:51:12Z</dcterms:modified>
  <cp:category/>
</cp:coreProperties>
</file>